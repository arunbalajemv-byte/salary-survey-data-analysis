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72" r:id="rId2"/>
    <p:sldId id="264" r:id="rId3"/>
    <p:sldId id="265" r:id="rId4"/>
    <p:sldId id="266" r:id="rId5"/>
    <p:sldId id="267" r:id="rId6"/>
    <p:sldId id="269" r:id="rId7"/>
    <p:sldId id="268" r:id="rId8"/>
    <p:sldId id="270" r:id="rId9"/>
    <p:sldId id="27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4660"/>
  </p:normalViewPr>
  <p:slideViewPr>
    <p:cSldViewPr snapToGrid="0">
      <p:cViewPr varScale="1">
        <p:scale>
          <a:sx n="91" d="100"/>
          <a:sy n="91" d="100"/>
        </p:scale>
        <p:origin x="64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83A331FB-336C-49F9-AEF2-78B4DA35DDC2}" type="datetimeFigureOut">
              <a:rPr lang="en-IN" smtClean="0"/>
              <a:t>28-01-2026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5272ACE-D56B-4EB3-B9EA-020E562B9E95}"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397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A331FB-336C-49F9-AEF2-78B4DA35DDC2}"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301396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A331FB-336C-49F9-AEF2-78B4DA35DDC2}"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272ACE-D56B-4EB3-B9EA-020E562B9E95}"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949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A331FB-336C-49F9-AEF2-78B4DA35DDC2}"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4606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A331FB-336C-49F9-AEF2-78B4DA35DDC2}" type="datetimeFigureOut">
              <a:rPr lang="en-IN" smtClean="0"/>
              <a:t>28-01-2026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71702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A331FB-336C-49F9-AEF2-78B4DA35DDC2}"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482842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A331FB-336C-49F9-AEF2-78B4DA35DDC2}" type="datetimeFigureOut">
              <a:rPr lang="en-IN" smtClean="0"/>
              <a:t>28-01-2026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3404136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A331FB-336C-49F9-AEF2-78B4DA35DDC2}"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2806518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A331FB-336C-49F9-AEF2-78B4DA35DDC2}"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212016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A331FB-336C-49F9-AEF2-78B4DA35DDC2}"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6529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A331FB-336C-49F9-AEF2-78B4DA35DDC2}"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272ACE-D56B-4EB3-B9EA-020E562B9E95}" type="slidenum">
              <a:rPr lang="en-IN" smtClean="0"/>
              <a:t>‹#›</a:t>
            </a:fld>
            <a:endParaRPr lang="en-IN"/>
          </a:p>
        </p:txBody>
      </p:sp>
    </p:spTree>
    <p:extLst>
      <p:ext uri="{BB962C8B-B14F-4D97-AF65-F5344CB8AC3E}">
        <p14:creationId xmlns:p14="http://schemas.microsoft.com/office/powerpoint/2010/main" val="2545104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83A331FB-336C-49F9-AEF2-78B4DA35DDC2}" type="datetimeFigureOut">
              <a:rPr lang="en-IN" smtClean="0"/>
              <a:t>28-01-2026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05272ACE-D56B-4EB3-B9EA-020E562B9E95}" type="slidenum">
              <a:rPr lang="en-IN" smtClean="0"/>
              <a:t>‹#›</a:t>
            </a:fld>
            <a:endParaRPr lang="en-IN"/>
          </a:p>
        </p:txBody>
      </p:sp>
    </p:spTree>
    <p:extLst>
      <p:ext uri="{BB962C8B-B14F-4D97-AF65-F5344CB8AC3E}">
        <p14:creationId xmlns:p14="http://schemas.microsoft.com/office/powerpoint/2010/main" val="224758175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72658-3109-A46F-24D8-6B7631D38D4D}"/>
              </a:ext>
            </a:extLst>
          </p:cNvPr>
          <p:cNvSpPr>
            <a:spLocks noGrp="1"/>
          </p:cNvSpPr>
          <p:nvPr>
            <p:ph type="title"/>
          </p:nvPr>
        </p:nvSpPr>
        <p:spPr/>
        <p:txBody>
          <a:bodyPr/>
          <a:lstStyle/>
          <a:p>
            <a:pPr algn="ctr"/>
            <a:r>
              <a:rPr lang="en-US" dirty="0">
                <a:latin typeface="Arial Black" panose="020B0A04020102020204" pitchFamily="34" charset="0"/>
              </a:rPr>
              <a:t>SALARY SURVEY ANALYSIS</a:t>
            </a:r>
            <a:endParaRPr lang="en-IN" dirty="0">
              <a:latin typeface="Arial Black" panose="020B0A04020102020204" pitchFamily="34" charset="0"/>
            </a:endParaRPr>
          </a:p>
        </p:txBody>
      </p:sp>
      <p:sp>
        <p:nvSpPr>
          <p:cNvPr id="5" name="Text Placeholder 4">
            <a:extLst>
              <a:ext uri="{FF2B5EF4-FFF2-40B4-BE49-F238E27FC236}">
                <a16:creationId xmlns:a16="http://schemas.microsoft.com/office/drawing/2014/main" id="{8DBCFB94-38C6-48C0-029D-838AD42EAF3F}"/>
              </a:ext>
            </a:extLst>
          </p:cNvPr>
          <p:cNvSpPr>
            <a:spLocks noGrp="1"/>
          </p:cNvSpPr>
          <p:nvPr>
            <p:ph type="body" sz="quarter" idx="3"/>
          </p:nvPr>
        </p:nvSpPr>
        <p:spPr>
          <a:xfrm>
            <a:off x="6814458" y="3495516"/>
            <a:ext cx="4754880" cy="2793050"/>
          </a:xfrm>
        </p:spPr>
        <p:txBody>
          <a:bodyPr/>
          <a:lstStyle/>
          <a:p>
            <a:r>
              <a:rPr lang="en-US" sz="3200" dirty="0">
                <a:latin typeface="Arial Black" panose="020B0A04020102020204" pitchFamily="34" charset="0"/>
              </a:rPr>
              <a:t>ARUN BALAJE</a:t>
            </a:r>
          </a:p>
          <a:p>
            <a:endParaRPr lang="en-US" sz="3200" dirty="0">
              <a:latin typeface="Arial Black" panose="020B0A04020102020204" pitchFamily="34" charset="0"/>
            </a:endParaRPr>
          </a:p>
          <a:p>
            <a:r>
              <a:rPr lang="en-US" sz="3200" dirty="0">
                <a:latin typeface="Arial Black" panose="020B0A04020102020204" pitchFamily="34" charset="0"/>
              </a:rPr>
              <a:t>DA &amp; DS AUG  B</a:t>
            </a:r>
          </a:p>
          <a:p>
            <a:endParaRPr lang="en-IN" dirty="0"/>
          </a:p>
        </p:txBody>
      </p:sp>
    </p:spTree>
    <p:extLst>
      <p:ext uri="{BB962C8B-B14F-4D97-AF65-F5344CB8AC3E}">
        <p14:creationId xmlns:p14="http://schemas.microsoft.com/office/powerpoint/2010/main" val="1379098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E107-AECE-A073-9B1F-AB7667616BDD}"/>
              </a:ext>
            </a:extLst>
          </p:cNvPr>
          <p:cNvSpPr>
            <a:spLocks noGrp="1"/>
          </p:cNvSpPr>
          <p:nvPr>
            <p:ph type="title"/>
          </p:nvPr>
        </p:nvSpPr>
        <p:spPr/>
        <p:txBody>
          <a:bodyPr/>
          <a:lstStyle/>
          <a:p>
            <a:r>
              <a:rPr lang="en-US" sz="2800" dirty="0">
                <a:latin typeface="Arial Black" panose="020B0A04020102020204" pitchFamily="34" charset="0"/>
              </a:rPr>
              <a:t>DESCRIPTION :</a:t>
            </a:r>
            <a:br>
              <a:rPr lang="en-IN" dirty="0">
                <a:latin typeface="Arial Black" panose="020B0A04020102020204" pitchFamily="34" charset="0"/>
              </a:rPr>
            </a:br>
            <a:endParaRPr lang="en-IN" dirty="0"/>
          </a:p>
        </p:txBody>
      </p:sp>
      <p:sp>
        <p:nvSpPr>
          <p:cNvPr id="3" name="Content Placeholder 2">
            <a:extLst>
              <a:ext uri="{FF2B5EF4-FFF2-40B4-BE49-F238E27FC236}">
                <a16:creationId xmlns:a16="http://schemas.microsoft.com/office/drawing/2014/main" id="{6BFFFBF7-F3FA-F2C6-8B3D-081917EC4716}"/>
              </a:ext>
            </a:extLst>
          </p:cNvPr>
          <p:cNvSpPr>
            <a:spLocks noGrp="1"/>
          </p:cNvSpPr>
          <p:nvPr>
            <p:ph idx="1"/>
          </p:nvPr>
        </p:nvSpPr>
        <p:spPr/>
        <p:txBody>
          <a:bodyPr>
            <a:normAutofit/>
          </a:bodyPr>
          <a:lstStyle/>
          <a:p>
            <a:r>
              <a:rPr lang="en-US" sz="2800" dirty="0">
                <a:latin typeface="Arial Rounded MT Bold" panose="020F0704030504030204" pitchFamily="34" charset="0"/>
              </a:rPr>
              <a:t>The Dataset consists 28060 Rows and 14 Columns</a:t>
            </a:r>
          </a:p>
          <a:p>
            <a:r>
              <a:rPr lang="en-US" sz="2800" dirty="0">
                <a:latin typeface="Arial Rounded MT Bold" panose="020F0704030504030204" pitchFamily="34" charset="0"/>
              </a:rPr>
              <a:t>Age Range, Industry, Job Title,  Annual Salary, Additional Monetary Compensation, Currency, Country, State, City, Years of Professional Experience Overall, Years of Professional Experience in Field, Highest Level of Education Completed, Gender etc.,</a:t>
            </a:r>
            <a:endParaRPr lang="en-IN" sz="2800" dirty="0">
              <a:latin typeface="Arial Rounded MT Bold" panose="020F0704030504030204" pitchFamily="34" charset="0"/>
            </a:endParaRPr>
          </a:p>
        </p:txBody>
      </p:sp>
    </p:spTree>
    <p:extLst>
      <p:ext uri="{BB962C8B-B14F-4D97-AF65-F5344CB8AC3E}">
        <p14:creationId xmlns:p14="http://schemas.microsoft.com/office/powerpoint/2010/main" val="468880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F172-27D1-26BA-49D6-C3C7908C9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1EA0D-DB86-D04D-3C1C-BFB75526BF9E}"/>
              </a:ext>
            </a:extLst>
          </p:cNvPr>
          <p:cNvSpPr>
            <a:spLocks noGrp="1"/>
          </p:cNvSpPr>
          <p:nvPr>
            <p:ph type="title"/>
          </p:nvPr>
        </p:nvSpPr>
        <p:spPr>
          <a:xfrm>
            <a:off x="1143000" y="609600"/>
            <a:ext cx="9875520" cy="808139"/>
          </a:xfrm>
        </p:spPr>
        <p:txBody>
          <a:bodyPr>
            <a:normAutofit/>
          </a:bodyPr>
          <a:lstStyle/>
          <a:p>
            <a:r>
              <a:rPr lang="en-US" sz="2800" dirty="0">
                <a:latin typeface="Arial Black" panose="020B0A04020102020204" pitchFamily="34" charset="0"/>
              </a:rPr>
              <a:t>Data Cleaning:</a:t>
            </a:r>
            <a:endParaRPr lang="en-IN" sz="28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5FB3EA5E-20D5-C583-3A8D-CC8850423E90}"/>
              </a:ext>
            </a:extLst>
          </p:cNvPr>
          <p:cNvSpPr>
            <a:spLocks noGrp="1"/>
          </p:cNvSpPr>
          <p:nvPr>
            <p:ph idx="1"/>
          </p:nvPr>
        </p:nvSpPr>
        <p:spPr>
          <a:xfrm>
            <a:off x="1143000" y="1661020"/>
            <a:ext cx="9872871" cy="1465418"/>
          </a:xfrm>
        </p:spPr>
        <p:txBody>
          <a:bodyPr>
            <a:normAutofit/>
          </a:bodyPr>
          <a:lstStyle/>
          <a:p>
            <a:r>
              <a:rPr lang="en-US" sz="2800" dirty="0">
                <a:latin typeface="Arial Rounded MT Bold" panose="020F0704030504030204" pitchFamily="34" charset="0"/>
              </a:rPr>
              <a:t>By Removing Blank values and Duplicate values.</a:t>
            </a:r>
          </a:p>
          <a:p>
            <a:r>
              <a:rPr lang="en-US" sz="2800" dirty="0">
                <a:latin typeface="Arial Rounded MT Bold" panose="020F0704030504030204" pitchFamily="34" charset="0"/>
              </a:rPr>
              <a:t>Standardized categorical data like Industry, </a:t>
            </a:r>
            <a:r>
              <a:rPr lang="en-US" sz="2800" dirty="0" err="1">
                <a:latin typeface="Arial Rounded MT Bold" panose="020F0704030504030204" pitchFamily="34" charset="0"/>
              </a:rPr>
              <a:t>Jobtitle</a:t>
            </a:r>
            <a:r>
              <a:rPr lang="en-US" sz="2800" dirty="0">
                <a:latin typeface="Arial Rounded MT Bold" panose="020F0704030504030204" pitchFamily="34" charset="0"/>
              </a:rPr>
              <a:t>, Country, state.</a:t>
            </a:r>
          </a:p>
        </p:txBody>
      </p:sp>
      <p:pic>
        <p:nvPicPr>
          <p:cNvPr id="5" name="Picture 4">
            <a:extLst>
              <a:ext uri="{FF2B5EF4-FFF2-40B4-BE49-F238E27FC236}">
                <a16:creationId xmlns:a16="http://schemas.microsoft.com/office/drawing/2014/main" id="{67A64F29-4398-F6EC-1614-66BE1E51987C}"/>
              </a:ext>
            </a:extLst>
          </p:cNvPr>
          <p:cNvPicPr>
            <a:picLocks noChangeAspect="1"/>
          </p:cNvPicPr>
          <p:nvPr/>
        </p:nvPicPr>
        <p:blipFill>
          <a:blip r:embed="rId2">
            <a:extLst>
              <a:ext uri="{28A0092B-C50C-407E-A947-70E740481C1C}">
                <a14:useLocalDpi xmlns:a14="http://schemas.microsoft.com/office/drawing/2010/main" val="0"/>
              </a:ext>
            </a:extLst>
          </a:blip>
          <a:srcRect t="8412"/>
          <a:stretch>
            <a:fillRect/>
          </a:stretch>
        </p:blipFill>
        <p:spPr>
          <a:xfrm>
            <a:off x="394282" y="3691156"/>
            <a:ext cx="5276676" cy="2854345"/>
          </a:xfrm>
          <a:prstGeom prst="rect">
            <a:avLst/>
          </a:prstGeom>
        </p:spPr>
      </p:pic>
      <p:pic>
        <p:nvPicPr>
          <p:cNvPr id="7" name="Picture 6">
            <a:extLst>
              <a:ext uri="{FF2B5EF4-FFF2-40B4-BE49-F238E27FC236}">
                <a16:creationId xmlns:a16="http://schemas.microsoft.com/office/drawing/2014/main" id="{3EE3E648-8A52-C6A8-6108-82BEDDB6D531}"/>
              </a:ext>
            </a:extLst>
          </p:cNvPr>
          <p:cNvPicPr>
            <a:picLocks noChangeAspect="1"/>
          </p:cNvPicPr>
          <p:nvPr/>
        </p:nvPicPr>
        <p:blipFill>
          <a:blip r:embed="rId3">
            <a:extLst>
              <a:ext uri="{28A0092B-C50C-407E-A947-70E740481C1C}">
                <a14:useLocalDpi xmlns:a14="http://schemas.microsoft.com/office/drawing/2010/main" val="0"/>
              </a:ext>
            </a:extLst>
          </a:blip>
          <a:srcRect t="3028" b="5201"/>
          <a:stretch>
            <a:fillRect/>
          </a:stretch>
        </p:blipFill>
        <p:spPr>
          <a:xfrm>
            <a:off x="6320833" y="3691156"/>
            <a:ext cx="5385033" cy="2854345"/>
          </a:xfrm>
          <a:prstGeom prst="rect">
            <a:avLst/>
          </a:prstGeom>
        </p:spPr>
      </p:pic>
      <p:sp>
        <p:nvSpPr>
          <p:cNvPr id="11" name="TextBox 10">
            <a:extLst>
              <a:ext uri="{FF2B5EF4-FFF2-40B4-BE49-F238E27FC236}">
                <a16:creationId xmlns:a16="http://schemas.microsoft.com/office/drawing/2014/main" id="{473CAE7C-BC49-3F1D-5889-3C6CB26E7650}"/>
              </a:ext>
            </a:extLst>
          </p:cNvPr>
          <p:cNvSpPr txBox="1"/>
          <p:nvPr/>
        </p:nvSpPr>
        <p:spPr>
          <a:xfrm>
            <a:off x="595618" y="3212983"/>
            <a:ext cx="3984771" cy="369332"/>
          </a:xfrm>
          <a:prstGeom prst="rect">
            <a:avLst/>
          </a:prstGeom>
          <a:noFill/>
        </p:spPr>
        <p:txBody>
          <a:bodyPr wrap="square" rtlCol="0">
            <a:spAutoFit/>
          </a:bodyPr>
          <a:lstStyle/>
          <a:p>
            <a:r>
              <a:rPr lang="en-US" dirty="0">
                <a:latin typeface="Arial Black" panose="020B0A04020102020204" pitchFamily="34" charset="0"/>
              </a:rPr>
              <a:t>Raw Data</a:t>
            </a:r>
            <a:endParaRPr lang="en-IN" dirty="0">
              <a:latin typeface="Arial Black" panose="020B0A04020102020204" pitchFamily="34" charset="0"/>
            </a:endParaRPr>
          </a:p>
        </p:txBody>
      </p:sp>
      <p:sp>
        <p:nvSpPr>
          <p:cNvPr id="12" name="TextBox 11">
            <a:extLst>
              <a:ext uri="{FF2B5EF4-FFF2-40B4-BE49-F238E27FC236}">
                <a16:creationId xmlns:a16="http://schemas.microsoft.com/office/drawing/2014/main" id="{91EF0217-A95F-9E51-6249-A0DE0D930B30}"/>
              </a:ext>
            </a:extLst>
          </p:cNvPr>
          <p:cNvSpPr txBox="1"/>
          <p:nvPr/>
        </p:nvSpPr>
        <p:spPr>
          <a:xfrm>
            <a:off x="7291431" y="3244334"/>
            <a:ext cx="3984771" cy="369332"/>
          </a:xfrm>
          <a:prstGeom prst="rect">
            <a:avLst/>
          </a:prstGeom>
          <a:noFill/>
        </p:spPr>
        <p:txBody>
          <a:bodyPr wrap="square" rtlCol="0">
            <a:spAutoFit/>
          </a:bodyPr>
          <a:lstStyle/>
          <a:p>
            <a:r>
              <a:rPr lang="en-US" dirty="0">
                <a:latin typeface="Arial Black" panose="020B0A04020102020204" pitchFamily="34" charset="0"/>
              </a:rPr>
              <a:t>Cleaned Data</a:t>
            </a:r>
            <a:endParaRPr lang="en-IN" dirty="0">
              <a:latin typeface="Arial Black" panose="020B0A04020102020204" pitchFamily="34" charset="0"/>
            </a:endParaRPr>
          </a:p>
        </p:txBody>
      </p:sp>
    </p:spTree>
    <p:extLst>
      <p:ext uri="{BB962C8B-B14F-4D97-AF65-F5344CB8AC3E}">
        <p14:creationId xmlns:p14="http://schemas.microsoft.com/office/powerpoint/2010/main" val="28098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643C2-0CFB-30DE-3FDC-EE92026F5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90E89-D339-4731-0026-F99381DD2F1E}"/>
              </a:ext>
            </a:extLst>
          </p:cNvPr>
          <p:cNvSpPr>
            <a:spLocks noGrp="1"/>
          </p:cNvSpPr>
          <p:nvPr>
            <p:ph type="title"/>
          </p:nvPr>
        </p:nvSpPr>
        <p:spPr>
          <a:xfrm>
            <a:off x="1140351" y="307596"/>
            <a:ext cx="9875520" cy="908807"/>
          </a:xfrm>
        </p:spPr>
        <p:txBody>
          <a:bodyPr>
            <a:normAutofit/>
          </a:bodyPr>
          <a:lstStyle/>
          <a:p>
            <a:r>
              <a:rPr lang="en-US" sz="2800" dirty="0">
                <a:latin typeface="Arial Black" panose="020B0A04020102020204" pitchFamily="34" charset="0"/>
              </a:rPr>
              <a:t>SQL Database Creation:</a:t>
            </a:r>
            <a:endParaRPr lang="en-IN" sz="2800" dirty="0">
              <a:latin typeface="Arial Black" panose="020B0A04020102020204" pitchFamily="34" charset="0"/>
            </a:endParaRPr>
          </a:p>
        </p:txBody>
      </p:sp>
      <p:sp>
        <p:nvSpPr>
          <p:cNvPr id="11" name="Content Placeholder 10">
            <a:extLst>
              <a:ext uri="{FF2B5EF4-FFF2-40B4-BE49-F238E27FC236}">
                <a16:creationId xmlns:a16="http://schemas.microsoft.com/office/drawing/2014/main" id="{45D46623-F4D4-1E36-6808-70F71C4D4FEA}"/>
              </a:ext>
            </a:extLst>
          </p:cNvPr>
          <p:cNvSpPr>
            <a:spLocks noGrp="1"/>
          </p:cNvSpPr>
          <p:nvPr>
            <p:ph idx="1"/>
          </p:nvPr>
        </p:nvSpPr>
        <p:spPr>
          <a:xfrm>
            <a:off x="1143000" y="1451295"/>
            <a:ext cx="9872871" cy="4644705"/>
          </a:xfrm>
        </p:spPr>
        <p:txBody>
          <a:bodyPr>
            <a:noAutofit/>
          </a:bodyPr>
          <a:lstStyle/>
          <a:p>
            <a:r>
              <a:rPr lang="en-US" sz="2000" dirty="0">
                <a:latin typeface="Arial Rounded MT Bold" panose="020F0704030504030204" pitchFamily="34" charset="0"/>
              </a:rPr>
              <a:t>Average Salary by Industry &amp; Gender.</a:t>
            </a:r>
          </a:p>
          <a:p>
            <a:r>
              <a:rPr lang="en-US" sz="2000" dirty="0">
                <a:latin typeface="Arial Rounded MT Bold" panose="020F0704030504030204" pitchFamily="34" charset="0"/>
              </a:rPr>
              <a:t>Salary by Compensation &amp; Job title.</a:t>
            </a:r>
          </a:p>
          <a:p>
            <a:r>
              <a:rPr lang="en-US" sz="2000" dirty="0">
                <a:latin typeface="Arial Rounded MT Bold" panose="020F0704030504030204" pitchFamily="34" charset="0"/>
              </a:rPr>
              <a:t>Salary by Highest level of Education.</a:t>
            </a:r>
          </a:p>
          <a:p>
            <a:r>
              <a:rPr lang="en-US" sz="2000" dirty="0">
                <a:latin typeface="Arial Rounded MT Bold" panose="020F0704030504030204" pitchFamily="34" charset="0"/>
              </a:rPr>
              <a:t>Employees by Industry, Experience overall &amp; Field Experience.</a:t>
            </a:r>
          </a:p>
          <a:p>
            <a:r>
              <a:rPr lang="en-US" sz="2000" dirty="0">
                <a:latin typeface="Arial Rounded MT Bold" panose="020F0704030504030204" pitchFamily="34" charset="0"/>
              </a:rPr>
              <a:t>Salary by Job, Country.</a:t>
            </a:r>
          </a:p>
          <a:p>
            <a:r>
              <a:rPr lang="en-US" sz="2000" dirty="0">
                <a:latin typeface="Arial Rounded MT Bold" panose="020F0704030504030204" pitchFamily="34" charset="0"/>
              </a:rPr>
              <a:t>Country by Job, Avg Salary.</a:t>
            </a:r>
          </a:p>
          <a:p>
            <a:r>
              <a:rPr lang="en-US" sz="2000" dirty="0">
                <a:latin typeface="Arial Rounded MT Bold" panose="020F0704030504030204" pitchFamily="34" charset="0"/>
              </a:rPr>
              <a:t>Avg Salary by City &amp; Industry.</a:t>
            </a:r>
          </a:p>
          <a:p>
            <a:r>
              <a:rPr lang="en-US" sz="2000" dirty="0">
                <a:latin typeface="Arial Rounded MT Bold" panose="020F0704030504030204" pitchFamily="34" charset="0"/>
              </a:rPr>
              <a:t>Gender by Compensation.</a:t>
            </a:r>
          </a:p>
          <a:p>
            <a:r>
              <a:rPr lang="en-US" sz="2000" dirty="0">
                <a:latin typeface="Arial Rounded MT Bold" panose="020F0704030504030204" pitchFamily="34" charset="0"/>
              </a:rPr>
              <a:t>Total Compensation by Job, , Experience overall &amp; Field Experience.</a:t>
            </a:r>
          </a:p>
          <a:p>
            <a:r>
              <a:rPr lang="en-US" sz="2000" dirty="0">
                <a:latin typeface="Arial Rounded MT Bold" panose="020F0704030504030204" pitchFamily="34" charset="0"/>
              </a:rPr>
              <a:t>Avg Salary by Industry, Gender &amp; Highest level of Education.</a:t>
            </a:r>
          </a:p>
          <a:p>
            <a:endParaRPr lang="en-IN" sz="2000" dirty="0">
              <a:latin typeface="Arial Rounded MT Bold" panose="020F0704030504030204" pitchFamily="34" charset="0"/>
            </a:endParaRPr>
          </a:p>
        </p:txBody>
      </p:sp>
    </p:spTree>
    <p:extLst>
      <p:ext uri="{BB962C8B-B14F-4D97-AF65-F5344CB8AC3E}">
        <p14:creationId xmlns:p14="http://schemas.microsoft.com/office/powerpoint/2010/main" val="3679095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4442B-6718-5F47-6B11-76E09FE37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4D427-B401-6E7F-A59F-DD13CF283195}"/>
              </a:ext>
            </a:extLst>
          </p:cNvPr>
          <p:cNvSpPr>
            <a:spLocks noGrp="1"/>
          </p:cNvSpPr>
          <p:nvPr>
            <p:ph type="title"/>
          </p:nvPr>
        </p:nvSpPr>
        <p:spPr>
          <a:xfrm>
            <a:off x="1143000" y="609600"/>
            <a:ext cx="9875520" cy="883640"/>
          </a:xfrm>
        </p:spPr>
        <p:txBody>
          <a:bodyPr>
            <a:normAutofit/>
          </a:bodyPr>
          <a:lstStyle/>
          <a:p>
            <a:r>
              <a:rPr lang="en-IN" sz="2800" dirty="0">
                <a:latin typeface="Arial Black" panose="020B0A04020102020204" pitchFamily="34" charset="0"/>
              </a:rPr>
              <a:t>MySQL </a:t>
            </a:r>
            <a:r>
              <a:rPr lang="en-US" sz="2800" dirty="0">
                <a:latin typeface="Arial Black" panose="020B0A04020102020204" pitchFamily="34" charset="0"/>
              </a:rPr>
              <a:t>Work Bench:</a:t>
            </a:r>
            <a:endParaRPr lang="en-IN" sz="28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1BE83DE9-5BD5-B571-7375-6E96C4BA26A1}"/>
              </a:ext>
            </a:extLst>
          </p:cNvPr>
          <p:cNvSpPr>
            <a:spLocks noGrp="1"/>
          </p:cNvSpPr>
          <p:nvPr>
            <p:ph idx="1"/>
          </p:nvPr>
        </p:nvSpPr>
        <p:spPr>
          <a:xfrm>
            <a:off x="1143000" y="1677798"/>
            <a:ext cx="9872871" cy="4418202"/>
          </a:xfrm>
        </p:spPr>
        <p:txBody>
          <a:bodyPr/>
          <a:lstStyle/>
          <a:p>
            <a:r>
              <a:rPr lang="en-US" sz="2400" dirty="0">
                <a:latin typeface="Arial Rounded MT Bold" panose="020F0704030504030204" pitchFamily="34" charset="0"/>
              </a:rPr>
              <a:t>In SQL Workbench the queries are written to a new create a data board creation to view multiple factors.</a:t>
            </a:r>
          </a:p>
          <a:p>
            <a:endParaRPr lang="en-IN" dirty="0"/>
          </a:p>
        </p:txBody>
      </p:sp>
      <p:pic>
        <p:nvPicPr>
          <p:cNvPr id="5" name="Picture 4">
            <a:extLst>
              <a:ext uri="{FF2B5EF4-FFF2-40B4-BE49-F238E27FC236}">
                <a16:creationId xmlns:a16="http://schemas.microsoft.com/office/drawing/2014/main" id="{74B60A1C-505A-A321-F6A6-F1C1F674A72D}"/>
              </a:ext>
            </a:extLst>
          </p:cNvPr>
          <p:cNvPicPr>
            <a:picLocks noChangeAspect="1"/>
          </p:cNvPicPr>
          <p:nvPr/>
        </p:nvPicPr>
        <p:blipFill>
          <a:blip r:embed="rId2">
            <a:extLst>
              <a:ext uri="{28A0092B-C50C-407E-A947-70E740481C1C}">
                <a14:useLocalDpi xmlns:a14="http://schemas.microsoft.com/office/drawing/2010/main" val="0"/>
              </a:ext>
            </a:extLst>
          </a:blip>
          <a:srcRect l="-100" r="100" b="19007"/>
          <a:stretch>
            <a:fillRect/>
          </a:stretch>
        </p:blipFill>
        <p:spPr>
          <a:xfrm>
            <a:off x="1455702" y="2659310"/>
            <a:ext cx="8418140" cy="3288485"/>
          </a:xfrm>
          <a:prstGeom prst="rect">
            <a:avLst/>
          </a:prstGeom>
        </p:spPr>
      </p:pic>
    </p:spTree>
    <p:extLst>
      <p:ext uri="{BB962C8B-B14F-4D97-AF65-F5344CB8AC3E}">
        <p14:creationId xmlns:p14="http://schemas.microsoft.com/office/powerpoint/2010/main" val="543601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14FF-7094-DB4B-D23A-C9F291E15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8D53F-F12F-A66C-295D-F035A556939E}"/>
              </a:ext>
            </a:extLst>
          </p:cNvPr>
          <p:cNvSpPr>
            <a:spLocks noGrp="1"/>
          </p:cNvSpPr>
          <p:nvPr>
            <p:ph type="title"/>
          </p:nvPr>
        </p:nvSpPr>
        <p:spPr>
          <a:xfrm>
            <a:off x="1143000" y="609600"/>
            <a:ext cx="9875520" cy="959141"/>
          </a:xfrm>
        </p:spPr>
        <p:txBody>
          <a:bodyPr>
            <a:normAutofit/>
          </a:bodyPr>
          <a:lstStyle/>
          <a:p>
            <a:r>
              <a:rPr lang="en-US" sz="2800" dirty="0">
                <a:latin typeface="Arial Black" panose="020B0A04020102020204" pitchFamily="34" charset="0"/>
              </a:rPr>
              <a:t>Power Pivot:</a:t>
            </a:r>
            <a:endParaRPr lang="en-IN" sz="28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377CAC6E-C3F6-A39F-327E-43DD7DB9EE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7739" y="1736521"/>
            <a:ext cx="8607105" cy="4359479"/>
          </a:xfrm>
        </p:spPr>
      </p:pic>
    </p:spTree>
    <p:extLst>
      <p:ext uri="{BB962C8B-B14F-4D97-AF65-F5344CB8AC3E}">
        <p14:creationId xmlns:p14="http://schemas.microsoft.com/office/powerpoint/2010/main" val="111367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FC3C-EA5B-C75C-D2C2-DAD995C4F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A6921-E493-0C32-2A5E-3914B733F43E}"/>
              </a:ext>
            </a:extLst>
          </p:cNvPr>
          <p:cNvSpPr>
            <a:spLocks noGrp="1"/>
          </p:cNvSpPr>
          <p:nvPr>
            <p:ph type="title"/>
          </p:nvPr>
        </p:nvSpPr>
        <p:spPr/>
        <p:txBody>
          <a:bodyPr>
            <a:normAutofit/>
          </a:bodyPr>
          <a:lstStyle/>
          <a:p>
            <a:r>
              <a:rPr lang="en-US" sz="2800" dirty="0">
                <a:latin typeface="Arial Black" panose="020B0A04020102020204" pitchFamily="34" charset="0"/>
              </a:rPr>
              <a:t>Dash Board</a:t>
            </a:r>
            <a:r>
              <a:rPr lang="en-US" sz="2400" dirty="0">
                <a:latin typeface="Arial Black" panose="020B0A04020102020204" pitchFamily="34" charset="0"/>
              </a:rPr>
              <a:t>:</a:t>
            </a:r>
            <a:endParaRPr lang="en-IN" sz="24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2E75FB7F-9B6E-EA33-9E0A-DC68A83114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92" t="1162" r="5957" b="2335"/>
          <a:stretch>
            <a:fillRect/>
          </a:stretch>
        </p:blipFill>
        <p:spPr>
          <a:xfrm>
            <a:off x="1518407" y="1895911"/>
            <a:ext cx="8539993" cy="4177719"/>
          </a:xfrm>
        </p:spPr>
      </p:pic>
    </p:spTree>
    <p:extLst>
      <p:ext uri="{BB962C8B-B14F-4D97-AF65-F5344CB8AC3E}">
        <p14:creationId xmlns:p14="http://schemas.microsoft.com/office/powerpoint/2010/main" val="1192470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FA04-9DC4-D984-2D59-0B21DD0D90D7}"/>
              </a:ext>
            </a:extLst>
          </p:cNvPr>
          <p:cNvSpPr>
            <a:spLocks noGrp="1"/>
          </p:cNvSpPr>
          <p:nvPr>
            <p:ph type="title"/>
          </p:nvPr>
        </p:nvSpPr>
        <p:spPr/>
        <p:txBody>
          <a:bodyPr>
            <a:normAutofit/>
          </a:bodyPr>
          <a:lstStyle/>
          <a:p>
            <a:r>
              <a:rPr lang="en-US" sz="2800" dirty="0">
                <a:latin typeface="Arial Black" panose="020B0A04020102020204" pitchFamily="34" charset="0"/>
              </a:rPr>
              <a:t>Insights:</a:t>
            </a:r>
            <a:endParaRPr lang="en-IN" sz="28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5A70D2DD-EE10-A84D-DFA3-6B371CA77024}"/>
              </a:ext>
            </a:extLst>
          </p:cNvPr>
          <p:cNvSpPr>
            <a:spLocks noGrp="1"/>
          </p:cNvSpPr>
          <p:nvPr>
            <p:ph idx="1"/>
          </p:nvPr>
        </p:nvSpPr>
        <p:spPr/>
        <p:txBody>
          <a:bodyPr/>
          <a:lstStyle/>
          <a:p>
            <a:r>
              <a:rPr lang="en-US" sz="2400" dirty="0">
                <a:latin typeface="Arial Rounded MT Bold" panose="020F0704030504030204" pitchFamily="34" charset="0"/>
              </a:rPr>
              <a:t>IT sector field is the top paying in overall.</a:t>
            </a:r>
          </a:p>
          <a:p>
            <a:r>
              <a:rPr lang="en-US" sz="2400" dirty="0">
                <a:latin typeface="Arial Rounded MT Bold" panose="020F0704030504030204" pitchFamily="34" charset="0"/>
              </a:rPr>
              <a:t>Employees other than Non-IT filed are less paying but have higher experience.</a:t>
            </a:r>
          </a:p>
          <a:p>
            <a:r>
              <a:rPr lang="en-US" sz="2400" dirty="0">
                <a:latin typeface="Arial Rounded MT Bold" panose="020F0704030504030204" pitchFamily="34" charset="0"/>
              </a:rPr>
              <a:t>USA placed top paying country.</a:t>
            </a:r>
          </a:p>
          <a:p>
            <a:r>
              <a:rPr lang="en-US" sz="2400" dirty="0">
                <a:latin typeface="Arial Rounded MT Bold" panose="020F0704030504030204" pitchFamily="34" charset="0"/>
              </a:rPr>
              <a:t>Employees having higher education have low average salary.</a:t>
            </a:r>
          </a:p>
          <a:p>
            <a:r>
              <a:rPr lang="en-US" sz="2400" dirty="0">
                <a:latin typeface="Arial Rounded MT Bold" panose="020F0704030504030204" pitchFamily="34" charset="0"/>
              </a:rPr>
              <a:t>Average Men salary is lower than women.</a:t>
            </a:r>
            <a:endParaRPr lang="en-US" dirty="0"/>
          </a:p>
        </p:txBody>
      </p:sp>
    </p:spTree>
    <p:extLst>
      <p:ext uri="{BB962C8B-B14F-4D97-AF65-F5344CB8AC3E}">
        <p14:creationId xmlns:p14="http://schemas.microsoft.com/office/powerpoint/2010/main" val="278703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FEE3-8663-B00E-E6CA-DD72BDA45676}"/>
              </a:ext>
            </a:extLst>
          </p:cNvPr>
          <p:cNvSpPr>
            <a:spLocks noGrp="1"/>
          </p:cNvSpPr>
          <p:nvPr>
            <p:ph type="title"/>
          </p:nvPr>
        </p:nvSpPr>
        <p:spPr/>
        <p:txBody>
          <a:bodyPr>
            <a:normAutofit/>
          </a:bodyPr>
          <a:lstStyle/>
          <a:p>
            <a:r>
              <a:rPr lang="en-US" sz="2800" dirty="0">
                <a:latin typeface="Arial Black" panose="020B0A04020102020204" pitchFamily="34" charset="0"/>
              </a:rPr>
              <a:t>Conclusion:</a:t>
            </a:r>
            <a:endParaRPr lang="en-IN" sz="28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7EA98D11-EAFF-9348-2B09-2445CE97F5AD}"/>
              </a:ext>
            </a:extLst>
          </p:cNvPr>
          <p:cNvSpPr>
            <a:spLocks noGrp="1"/>
          </p:cNvSpPr>
          <p:nvPr>
            <p:ph idx="1"/>
          </p:nvPr>
        </p:nvSpPr>
        <p:spPr/>
        <p:txBody>
          <a:bodyPr/>
          <a:lstStyle/>
          <a:p>
            <a:r>
              <a:rPr lang="en-US" sz="2400" dirty="0">
                <a:latin typeface="Arial Rounded MT Bold" panose="020F0704030504030204" pitchFamily="34" charset="0"/>
              </a:rPr>
              <a:t>The analysis helps to understand the salary based on countries.</a:t>
            </a:r>
          </a:p>
          <a:p>
            <a:r>
              <a:rPr lang="en-US" sz="2400" dirty="0">
                <a:latin typeface="Arial Rounded MT Bold" panose="020F0704030504030204" pitchFamily="34" charset="0"/>
              </a:rPr>
              <a:t>Employees having higher education have less salary compare to the basic education.</a:t>
            </a:r>
          </a:p>
          <a:p>
            <a:r>
              <a:rPr lang="en-US" sz="2400" dirty="0">
                <a:latin typeface="Arial Rounded MT Bold" panose="020F0704030504030204" pitchFamily="34" charset="0"/>
              </a:rPr>
              <a:t>Experience , Education, Professional Experience in Field plays a role in salary.</a:t>
            </a:r>
          </a:p>
          <a:p>
            <a:endParaRPr lang="en-IN" dirty="0"/>
          </a:p>
        </p:txBody>
      </p:sp>
    </p:spTree>
    <p:extLst>
      <p:ext uri="{BB962C8B-B14F-4D97-AF65-F5344CB8AC3E}">
        <p14:creationId xmlns:p14="http://schemas.microsoft.com/office/powerpoint/2010/main" val="365347696"/>
      </p:ext>
    </p:extLst>
  </p:cSld>
  <p:clrMapOvr>
    <a:masterClrMapping/>
  </p:clrMapOvr>
</p:sld>
</file>

<file path=ppt/theme/theme1.xml><?xml version="1.0" encoding="utf-8"?>
<a:theme xmlns:a="http://schemas.openxmlformats.org/drawingml/2006/main" name="Basi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254</TotalTime>
  <Words>294</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 Black</vt:lpstr>
      <vt:lpstr>Arial Rounded MT Bold</vt:lpstr>
      <vt:lpstr>Corbel</vt:lpstr>
      <vt:lpstr>Basis</vt:lpstr>
      <vt:lpstr>SALARY SURVEY ANALYSIS</vt:lpstr>
      <vt:lpstr>DESCRIPTION : </vt:lpstr>
      <vt:lpstr>Data Cleaning:</vt:lpstr>
      <vt:lpstr>SQL Database Creation:</vt:lpstr>
      <vt:lpstr>MySQL Work Bench:</vt:lpstr>
      <vt:lpstr>Power Pivot:</vt:lpstr>
      <vt:lpstr>Dash Board:</vt:lpstr>
      <vt:lpstr>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ARUNBALAJE MV</dc:creator>
  <cp:lastModifiedBy>ARUNBALAJE MV</cp:lastModifiedBy>
  <cp:revision>4</cp:revision>
  <dcterms:created xsi:type="dcterms:W3CDTF">2026-01-04T10:25:13Z</dcterms:created>
  <dcterms:modified xsi:type="dcterms:W3CDTF">2026-01-28T05:39:49Z</dcterms:modified>
</cp:coreProperties>
</file>